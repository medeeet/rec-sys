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figs/kaznu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50292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8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AL-FARABI KAZAKH NATIONAL UNIVERSITY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20574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Information Technologies and Artificial Intelligence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623560" y="2468880"/>
            <a:ext cx="914400" cy="228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2834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Hybrid Recommendation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457200" y="3429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with Context-Aware Attention Fusion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&amp; Fix of Attention Gate Mode Collapse in Component-Level Fusion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2286000" y="50292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Candidate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502920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Zhumakhan Medet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286000" y="537667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Advisor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852160" y="537667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Bektemessov Amanzhol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286000" y="57241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Program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852160" y="5724144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7M06116 — Computer Science and Technology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286000" y="607161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852160" y="607161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Reviews 2018 Electronics  ·  728K users · 6.7M interactions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PROBLEM STATEMENT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&amp; Problem Statement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Single-Paradigm Recommenders Fail in Production E-Commerce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574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920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User Signals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platforms generate three distinct interaction signals — long-term preferences, session dynamics, and item content — but classical methods exploit only one of these signals at a time, leaving the others on the table.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926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Cold-Start, Drift, and Sparsity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filtering degrades on new users (cold-start); content-based methods produce overly homogeneous recommendations; sequential models neglect long-term preferences. Each paradigm has its niche failure mode.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931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Fusion Limitations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hybrid recommenders use fixed-weight fusion (concatenation, averaging, weighted sum). Such static strategies cannot adapt to varying user contexts — a weekday-morning shopper has different needs than a weekend-evening browser.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3776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adaptive fusion at the component level remains underexplored. The present work fills this gap and, in doing so, surfaces a previously unreported failure mode that motivates the principal contribution.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of 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PREPROCESSING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Preprocessing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Reviews 2018 Electronics — Large-Scale Real-World Benchmark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01168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011680"/>
            <a:ext cx="109728" cy="8869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728,489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71800"/>
            <a:ext cx="109728" cy="8869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63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159,729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31920"/>
            <a:ext cx="109728" cy="886968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6,737,580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310896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6282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4892040"/>
            <a:ext cx="109728" cy="886968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983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5.79 × 10⁻⁵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822960" y="5394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0" y="21488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011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K-Core Filtering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Iteratively removes users/items with fewer than 5 interactions until convergence. Applied as a verification layer on top of Amazon's pre-filtered 5-core subset.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114800" y="310896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34840" y="2971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70/15/15 Split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timestamp ordering; train on the past, test on the future. Prevents temporal data leakage and simulates production deployment conditions.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11480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Feature Streams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item content (5,000-d sparse), padded user sequences (max length 50), and 5-dimensional temporal context (hour, day-of-week, weekend indicator) — one per recommendation signal.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114800" y="50292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34840" y="4892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Win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densified as fp16 tensor on GPU (1.6 GB) for O(1) item lookup, eliminating per-sample sparse-to-dense conversion bottleneck.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of 9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Architecture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Components Fused via Context-Aware Attention Gate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858000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8288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589520" y="18288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0" y="1874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86384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Collaborative Filtering — user &amp; item embeddings (d=64) + MLP. Captures long-term preferences.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589520" y="27432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589520" y="27432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0" y="2788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63840" y="3108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GRU (hidden 128) on padded item sequences (max 50). Models session-level dynamics.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589520" y="36576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589520" y="3657600"/>
            <a:ext cx="109728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0" y="37033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863840" y="4023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[5000→512→256→64] over TF-IDF features. Addresses cold-start scenarios.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4572000"/>
            <a:ext cx="4206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961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589520" y="4572000"/>
            <a:ext cx="109728" cy="8229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0" y="4617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7863840" y="49377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NN: 5-d context → softmax(α_s, α_d, α_c). The adaptive fusion mechanism.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589520" y="5623560"/>
            <a:ext cx="420624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772400" y="56235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PARAMETERS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69,986,372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of 9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v1 RESULTS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Procedure &amp; v1 Results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Full-Data Training Achieves NDCG@10 = 0.2807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trai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858000" cy="274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89520" y="1828800"/>
            <a:ext cx="420624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NDCG@10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0" y="21945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0.2807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7589520" y="3246120"/>
            <a:ext cx="42062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C9A9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0" y="3337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RECALL@10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72400" y="3611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0.4384</a:t>
            </a:r>
            <a:endParaRPr lang="en-US" sz="4800" dirty="0"/>
          </a:p>
        </p:txBody>
      </p:sp>
      <p:sp>
        <p:nvSpPr>
          <p:cNvPr id="14" name="Shape 11"/>
          <p:cNvSpPr/>
          <p:nvPr/>
        </p:nvSpPr>
        <p:spPr>
          <a:xfrm>
            <a:off x="457200" y="49834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8463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 Loss + Adam (lr 1e-3, cosine)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30-epoch schedule, batch 2048, mixed-precision fp16 autocast + GradScaler on NVIDIA T4 GPU.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57200" y="57607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56235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Win — 50× Speedup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Vectorized batch evaluation + GPU-resident TF-IDF + optimized negative sampling → 75 min full-data training.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0" y="49834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20840" y="48463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 at Epoch 27 (0.3221)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Sampled-negative eval (1 pos vs 99 random negatives), following NCF and SASRec protocols.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00800" y="57607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20840" y="56235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Generalization Gap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0.3221 → Test 0.2807 (~13% drop), within normal range for recommender system experiments.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of 9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STUDY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Ablation Study — An Unexpected Result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Five Variants Cluster Within Experimental Noise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pic>
        <p:nvPicPr>
          <p:cNvPr id="7" name="Image 0" descr="/home/medet/projects/disser/docs/figures/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58368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0" y="1828800"/>
            <a:ext cx="4572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06640" y="18288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01200" y="18288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698480" y="18288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vs full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0" y="233172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06640" y="23317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full_model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60120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0.2653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698480" y="23317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0" y="2834640"/>
            <a:ext cx="4572000" cy="502920"/>
          </a:xfrm>
          <a:prstGeom prst="rect">
            <a:avLst/>
          </a:prstGeom>
          <a:solidFill>
            <a:srgbClr val="E8D9A8">
              <a:alpha val="40000"/>
            </a:srgbClr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0664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no_dynamic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0120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0.2665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698480" y="28346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315200" y="333756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06640" y="3337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no_content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60120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0.2691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0698480" y="33375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+1.4%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0" y="3840480"/>
            <a:ext cx="4572000" cy="502920"/>
          </a:xfrm>
          <a:prstGeom prst="rect">
            <a:avLst/>
          </a:prstGeom>
          <a:solidFill>
            <a:srgbClr val="E8D9A8">
              <a:alpha val="40000"/>
            </a:srgbClr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06640" y="38404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no_attention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601200" y="3840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0.2656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0698480" y="38404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315200" y="4343400"/>
            <a:ext cx="45720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406640" y="4343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static_only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9601200" y="4343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0.2770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10698480" y="4343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 ⚠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1005840"/>
          </a:xfrm>
          <a:prstGeom prst="rect">
            <a:avLst/>
          </a:prstGeom>
          <a:solidFill>
            <a:srgbClr val="C62828">
              <a:alpha val="12000"/>
            </a:srgbClr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57200" y="5120640"/>
            <a:ext cx="109728" cy="100584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31520" y="51663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KEY OBSERVATION  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static_only achieves NDCG@10 = 0.2770, marginally exceeding the full hybrid (0.2653). All five variants lie within a 0.27 ± 0.01 band — differences are statistically indistinguishable from experimental noise. This violates the architectural hypothesis: if components contribute, removing them should hurt. Something is masking the auxiliary modules.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of 9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— MODE COLLAPSE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Per-Segment Diagnostics Reveal Mode Collapse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α_static ≈ 0.99 Across All User Segments — Components Masked at Inference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5740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92024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Per-Bucket Evaluation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users partitioned by training-history length: cold-start (≤3 interactions), warm (4-10), hot (11-30), super-hot (&gt;30). 2,000 users per bucket.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92608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Finding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attention weights extracted at inference revealed α_static ≈ 0.989 in every single bucket — dynamic and content components received &lt; 1% weight and were effectively ignored.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93192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MoE Literature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Analogous to gating collapse documented in mixture-of-experts research (Shazeer et al., 2017). First reported instance for component-level attention fusion in recommender systems.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507492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937760"/>
            <a:ext cx="5577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Complete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~67M dynamic + content parameters trained but masked at inference. The 'hybrid' model behaved as pure NCF, explaining the ablation null result.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766560" y="1920240"/>
            <a:ext cx="5029200" cy="45720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0" y="1920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Segment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77824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α_static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78408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α_dyn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89920" y="19202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α_content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6560" y="23774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3774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(≤3)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8408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789920" y="2377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766560" y="28346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28346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(4-10)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77824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8408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789920" y="2834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66560" y="32918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(11-30)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7824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789920" y="32918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766560" y="3749040"/>
            <a:ext cx="5029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D9A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super-hot (&gt;30)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7824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0.989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78408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789920" y="37490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is degenerate: identical attention regardless of user context.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of 9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ANTI-COLLAPSE FIX — v2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Anti-Collapse Training (v2)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Entropy Regularization + Load Balancing Restore Component Fairness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920240"/>
            <a:ext cx="1124712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202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  =  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L_BPR</a:t>
            </a:r>
            <a:pPr algn="ctr" indent="0" marL="0">
              <a:buNone/>
            </a:pPr>
            <a:r>
              <a:rPr lang="en-US" sz="1800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+  λ_ent · (-H(α))</a:t>
            </a:r>
            <a:pPr algn="ctr" indent="0" marL="0">
              <a:buNone/>
            </a:pPr>
            <a:r>
              <a:rPr lang="en-US" sz="1800" dirty="0">
                <a:solidFill>
                  <a:srgbClr val="E8D9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+  λ_bal · ‖α̅ − 1/3‖²</a:t>
            </a:r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     </a:t>
            </a:r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(λ_ent = 0.05,  λ_bal = 0.01)</a:t>
            </a:r>
            <a:endParaRPr lang="en-US" sz="1800" dirty="0"/>
          </a:p>
        </p:txBody>
      </p:sp>
      <p:pic>
        <p:nvPicPr>
          <p:cNvPr id="9" name="Image 0" descr="/home/medet/projects/disser/docs/figures/attention_v1_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6858000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89520" y="274320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C6282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— COLLAPSED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3108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0.2807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(0.989, 0.005, 0.005)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589520" y="4160520"/>
            <a:ext cx="420624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4206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— BALANCED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0" y="45262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= </a:t>
            </a:r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0.2749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(0.349, 0.324, 0.326)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57150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TRADE-OFF DOCUMENTED 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2.1% NDCG@10 cost  →  genuine three-component utilization with entropy = log(3) at its theoretical maximum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of 9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91440" cy="91440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28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4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Primary Contribution: Discovery, Diagnosis, and Validated Fix of a Novel Failure Mode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54864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CONTRIBUTIONS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6576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4688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Architecture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components (NCF + GRU + TF-IDF MLP) fused via context-aware attention gate, evaluated on 6.7M-interaction Amazon Electronics benchmark.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461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Collapse Discovery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reported instance of MoE-style gating collapse for component-level attention fusion in recommender systems.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60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Anti-Collapse Fix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 regularization + load-balancing penalty restore balanced fusion (α ≈ 1/3 each) at a documented 2.1% NDCG cost.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212080"/>
            <a:ext cx="146304" cy="146304"/>
          </a:xfrm>
          <a:prstGeom prst="ellipse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0749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Throughput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50× speedup pipeline enables full-data training on free Colab T4 in 75 minutes — accessible reproducibility.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2194560"/>
            <a:ext cx="365760" cy="36576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3774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66560" y="23774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sweep over (λ_ent, λ_bal) to map the fairness-performance Pareto frontier.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88036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28803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top-k gating (Shazeer et al., 2017) as alternative regularization.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33832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66560" y="33832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Full-rank evaluation against all 159,729 candidates (no sampled negatives).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0" y="388620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66560" y="3886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Re-ablation on v2 where components are no longer masked.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0" y="43891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766560" y="43891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→ BERT content embeddings, MovieLens 25M cross-domain validation.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489204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48920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via FastAPI + Redis-cached embeddings.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attention.   </a:t>
            </a:r>
            <a:pPr algn="ctr" indent="0" marL="0">
              <a:buNone/>
            </a:pPr>
            <a:r>
              <a:rPr lang="en-US" sz="1200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Open source: </a:t>
            </a:r>
            <a:pPr algn="ctr" indent="0" marL="0">
              <a:buNone/>
            </a:pPr>
            <a:r>
              <a:rPr lang="en-US" sz="12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github.com/Medeeet/rec-sys</a:t>
            </a:r>
            <a:pPr algn="ctr" indent="0" marL="0">
              <a:buNone/>
            </a:pPr>
            <a:r>
              <a:rPr lang="en-US" sz="1200" dirty="0">
                <a:solidFill>
                  <a:srgbClr val="E8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MIT License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Hybrid RecSys · Mode Collapse Discovery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332720" y="6446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of 9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0" y="6720840"/>
            <a:ext cx="12161520" cy="137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720840"/>
            <a:ext cx="4114800" cy="137160"/>
          </a:xfrm>
          <a:prstGeom prst="rect">
            <a:avLst/>
          </a:prstGeom>
          <a:solidFill>
            <a:srgbClr val="C9A961"/>
          </a:solidFill>
          <a:ln w="1270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Hybrid RecSys Defense</dc:title>
  <dc:subject>PptxGenJS Presentation</dc:subject>
  <dc:creator>Zhumakhan Medet</dc:creator>
  <cp:lastModifiedBy>Zhumakhan Medet</cp:lastModifiedBy>
  <cp:revision>1</cp:revision>
  <dcterms:created xsi:type="dcterms:W3CDTF">2026-05-22T07:00:02Z</dcterms:created>
  <dcterms:modified xsi:type="dcterms:W3CDTF">2026-05-22T07:00:02Z</dcterms:modified>
</cp:coreProperties>
</file>