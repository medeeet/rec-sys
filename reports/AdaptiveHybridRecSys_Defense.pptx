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4" name="Image 0" descr="/tmp/figs/kazn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64008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AL-FARABI KAZAKH NATIONAL UNIVERSITY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5420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Information Technologies and Artificial Intelligence  ·  Department of Computer Science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Hybrid Recommendation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3520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with Context-Aware Attention Fusion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D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Fix of Attention Gate Mode Collapse in Component-Level Fusion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60320" y="4572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Candidate: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35040" y="4572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Zhumakhan Medet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60320" y="4919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Advisor: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0" y="49194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Bektemessov Amanzhol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60320" y="52669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Program: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35040" y="52669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7M06116 — Computer Science and Technology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60320" y="56144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561441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Reviews 2018 Electronics (728K users · 6.7M interactions)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60320" y="5961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35040" y="59618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github.com/Medeeet/rec-sys  (MIT License)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0080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Pre-Defense  ·  2025-2026 Academic Year  ·  Spring Semester  ·  Almaty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DEFENSE</a:t>
            </a:r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 STATEMENT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10896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&amp; Problem Statement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Single-Paradigm Recommenders Fail in Production E-Commerce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5740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20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User Signals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 generate three distinct interaction signals — long-term preferences, session dynamics, and item content — but classical methods exploit only one of these signals at a time, leaving the others on the table.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926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Cold-Start, Drift, and Sparsity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degrades on new users (cold-start); content-based methods produce overly homogeneous recommendations; sequential models neglect long-term preferences. Each paradigm has its niche failure mode.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931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Fusion Limitations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hybrid recommenders use fixed-weight fusion (concatenation, averaging, weighted sum). Such static strategies cannot adapt to varying user contexts — a weekday-morning shopper has different needs than a weekend-evening browser.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937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adaptive fusion at the component level remains underexplored. The present work fills this gap and, in doing so, surfaces a previously unreported failure mode that motivates the principal contribution.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Hybrid RecSys · Mode Collapse Discovery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720840"/>
            <a:ext cx="4114800" cy="137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DEFENSE</a:t>
            </a:r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10896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Preprocessing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Reviews 2018 Electronics — Large-Scale Real-World Benchmark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3108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109728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728,489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108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71800"/>
            <a:ext cx="109728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159,729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108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931920"/>
            <a:ext cx="109728" cy="88696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6,737,580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296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31089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892040"/>
            <a:ext cx="109728" cy="8869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83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5.79 × 10⁻⁵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214884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K-Core Filtering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removes users/items with fewer than 5 interactions until convergence. Applied as a verification layer on top of Amazon's pre-filtered 5-core subset.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14800" y="310896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2971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70/15/15 Split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timestamp ordering; train on the past, test on the future. Prevents temporal data leakage and simulates production deployment conditions.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0" y="406908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 Streams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item content (5,000-d sparse), padded user sequences (max length 50), and 5-dimensional temporal context (hour, day-of-week, weekend indicator) — one per recommendation signal.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14800" y="502920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4892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densified as fp16 tensor on GPU (1.6 GB) for O(1) item lookup, eliminating per-sample sparse-to-dense conversion bottleneck.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Hybrid RecSys · Mode Collapse Discovery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9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720840"/>
            <a:ext cx="4114800" cy="137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DEFENSE</a:t>
            </a:r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10896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Components Fused via Context-Aware Attention Gate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7" name="Image 0" descr="/home/medet/projects/disser/docs/figur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685800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9520" y="18288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89520" y="1828800"/>
            <a:ext cx="10972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Collaborative Filtering — user &amp; item embeddings (d=64) + MLP. Captures long-term preferences.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589520" y="27432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89520" y="2743200"/>
            <a:ext cx="10972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0" y="2788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6384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GRU (hidden 128) on padded item sequences (max 50). Models session-level dynamics.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589520" y="36576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9520" y="3657600"/>
            <a:ext cx="10972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86384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[5000→512→256→64] over TF-IDF features. Addresses cold-start scenarios.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89520" y="45720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89520" y="4572000"/>
            <a:ext cx="109728" cy="8229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63840" y="4617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863840" y="4937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NN: 5-d context → softmax(α_s, α_d, α_c). The adaptive fusion mechanism.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589520" y="5623560"/>
            <a:ext cx="42062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0" y="5623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69,986,372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Hybrid RecSys · Mode Collapse Discovery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9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0" y="6720840"/>
            <a:ext cx="4114800" cy="137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DEFENSE</a:t>
            </a:r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v1 RESULTS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10896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Procedure &amp; v1 Results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Full-Data Training Achieves NDCG@10 = 0.2807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7" name="Image 0" descr="/home/medet/projects/disser/docs/figures/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685800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9520" y="1828800"/>
            <a:ext cx="420624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NDCG@10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21945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0.2807</a:t>
            </a:r>
            <a:endParaRPr lang="en-US" sz="4800" dirty="0"/>
          </a:p>
        </p:txBody>
      </p:sp>
      <p:sp>
        <p:nvSpPr>
          <p:cNvPr id="11" name="Shape 8"/>
          <p:cNvSpPr/>
          <p:nvPr/>
        </p:nvSpPr>
        <p:spPr>
          <a:xfrm>
            <a:off x="7589520" y="3246120"/>
            <a:ext cx="42062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3337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RECALL@10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3611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0.4384</a:t>
            </a:r>
            <a:endParaRPr lang="en-US" sz="4800" dirty="0"/>
          </a:p>
        </p:txBody>
      </p:sp>
      <p:sp>
        <p:nvSpPr>
          <p:cNvPr id="14" name="Shape 11"/>
          <p:cNvSpPr/>
          <p:nvPr/>
        </p:nvSpPr>
        <p:spPr>
          <a:xfrm>
            <a:off x="457200" y="498348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8463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 Loss + Adam (lr 1e-3, cosine)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30-epoch schedule, batch 2048, mixed-precision fp16 autocast + GradScaler on NVIDIA T4 GPU.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576072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56235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Win — 50× Speedup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batch evaluation + GPU-resident TF-IDF + optimized negative sampling → 75 min full-data training.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0" y="498348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48463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at Epoch 27 (0.3221)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Sampled-negative eval (1 pos vs 99 random negatives), following NCF and SASRec protocols.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0" y="576072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56235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Generalization Gap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0.3221 → Test 0.2807 (~13% drop), within normal range for recommender system experiments.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Hybrid RecSys · Mode Collapse Discovery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9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0" y="6720840"/>
            <a:ext cx="4114800" cy="137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DEFENSE</a:t>
            </a:r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10896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Study — An Unexpected Result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Five Variants Cluster Within Experimental Noise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7" name="Image 0" descr="/home/medet/projects/disser/docs/figures/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658368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1828800"/>
            <a:ext cx="4572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69848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vs full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0" y="233172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full_model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0.2653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69848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0" y="2834640"/>
            <a:ext cx="4572000" cy="502920"/>
          </a:xfrm>
          <a:prstGeom prst="rect">
            <a:avLst/>
          </a:prstGeom>
          <a:solidFill>
            <a:srgbClr val="E8D9A8">
              <a:alpha val="40000"/>
            </a:srgbClr>
          </a:solidFill>
          <a:ln w="6350">
            <a:solidFill>
              <a:srgbClr val="E8D9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no_dynamic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01200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0.2665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698480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0" y="333756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0664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no_content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601200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0.2691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698480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0" y="3840480"/>
            <a:ext cx="4572000" cy="502920"/>
          </a:xfrm>
          <a:prstGeom prst="rect">
            <a:avLst/>
          </a:prstGeom>
          <a:solidFill>
            <a:srgbClr val="E8D9A8">
              <a:alpha val="40000"/>
            </a:srgbClr>
          </a:solidFill>
          <a:ln w="6350">
            <a:solidFill>
              <a:srgbClr val="E8D9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0664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no_attention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601200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0.2656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698480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+0.1%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315200" y="4343400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0664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static_only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601200" y="4343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0.2770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0698480" y="4343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+4.4% ⚠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" y="5120640"/>
            <a:ext cx="11247120" cy="1005840"/>
          </a:xfrm>
          <a:prstGeom prst="rect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" y="5120640"/>
            <a:ext cx="109728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1520" y="5166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OBSERVATION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static_only achieves NDCG@10 = 0.2770, marginally exceeding the full hybrid (0.2653). All five variants lie within a 0.27 ± 0.01 band — differences are statistically indistinguishable from experimental noise. This violates the architectural hypothesis: if components contribute, removing them should hurt. Something is masking the auxiliary modules.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Hybrid RecSys · Mode Collapse Discovery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9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0" y="6720840"/>
            <a:ext cx="4114800" cy="137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DEFENSE</a:t>
            </a:r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— MODE COLLAPSE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10896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Per-Segment Diagnostics Reveal Mode Collapse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α_static ≈ 0.99 Across All User Segments — Components Masked at Inference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5740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Per-Bucket Evaluation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users partitioned by training-history length: cold-start (≤3 interactions), warm (4-10), hot (11-30), super-hot (&gt;30). 2,000 users per bucket.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2608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attention weights extracted at inference revealed α_static ≈ 0.989 in every single bucket — dynamic and content components received &lt; 1% weight and were effectively ignored.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3192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MoE Literature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to gating collapse documented in mixture-of-experts research (Shazeer et al., 2017). First reported instance for component-level attention fusion in recommender systems.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07492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93776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Complete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~67M dynamic + content parameters trained but masked at inference. The 'hybrid' model behaved as pure NCF, explaining the ablation null result.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1920240"/>
            <a:ext cx="502920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Segment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7824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α_static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8408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α_dyn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α_content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237744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(≤3)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0" y="2377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0" y="2377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0" y="2377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283464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(4-10)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8408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89920" y="2834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329184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(11-30)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0" y="3291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84080" y="3291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789920" y="3291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0" y="3749040"/>
            <a:ext cx="5029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9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super-hot (&gt;30)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78240" y="3749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84080" y="3749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789920" y="3749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is degenerate: identical attention regardless of user context.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Hybrid RecSys · Mode Collapse Discovery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720840"/>
            <a:ext cx="4114800" cy="137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DEFENSE</a:t>
            </a:r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ANTI-COLLAPSE FIX — v2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10896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Anti-Collapse Training (v2)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Entropy Regularization + Load Balancing Restore Component Fairness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 = 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L_BPR</a:t>
            </a:r>
            <a:pPr algn="ctr" indent="0" marL="0">
              <a:buNone/>
            </a:pPr>
            <a:r>
              <a:rPr lang="en-US" sz="18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λ_ent · (-H(α))</a:t>
            </a:r>
            <a:pPr algn="ctr" indent="0" marL="0">
              <a:buNone/>
            </a:pPr>
            <a:r>
              <a:rPr lang="en-US" sz="1800" dirty="0">
                <a:solidFill>
                  <a:srgbClr val="E8D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λ_bal · ‖α̅ − 1/3‖²</a:t>
            </a:r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(λ_ent = 0.05,  λ_bal = 0.01)</a:t>
            </a:r>
            <a:endParaRPr lang="en-US" sz="1800" dirty="0"/>
          </a:p>
        </p:txBody>
      </p:sp>
      <p:pic>
        <p:nvPicPr>
          <p:cNvPr id="9" name="Image 0" descr="/home/medet/projects/disser/docs/figures/attention_v1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0"/>
            <a:ext cx="685800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89520" y="2743200"/>
            <a:ext cx="4206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2788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COLLAPSED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31089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= 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0.2807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(0.989, 0.005, 0.005)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89520" y="4160520"/>
            <a:ext cx="4206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BALANCED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0" y="4526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= 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0.2749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(0.349, 0.324, 0.326)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5715000"/>
            <a:ext cx="11247120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57150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TRADE-OFF DOCUMENTED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2.1% NDCG@10 cost  →  genuine three-component utilization with entropy = log(3) at its theoretical maximum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Hybrid RecSys · Mode Collapse Discovery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9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6720840"/>
            <a:ext cx="4114800" cy="137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DEFENSE</a:t>
            </a:r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pPr indent="0" marL="0">
              <a:buNone/>
            </a:pPr>
            <a:r>
              <a:rPr lang="en-US" sz="900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10896"/>
            <a:ext cx="91440" cy="914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Contribution: Discovery, Diagnosis, and Validated Fix of a Novel Failure Mode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CONTRIBUTIONS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6576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Hybrid Architecture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components (NCF + GRU + TF-IDF MLP) fused via context-aware attention gate, evaluated on 6.7M-interaction Amazon Electronics benchmark.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46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Collapse Discovery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reported instance of MoE-style gating collapse for component-level attention fusion in recommender systems.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60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Anti-Collapse Fix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regularization + load-balancing penalty restore balanced fusion (α ≈ 1/3 each) at a documented 2.1% NDCG cost.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5212080"/>
            <a:ext cx="146304" cy="146304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Throughput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50× speedup pipeline enables full-data training on free Colab T4 in 75 minutes — accessible reproducibility.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2194560"/>
            <a:ext cx="36576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3774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23774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sweep over (λ_ent, λ_bal) to map the fairness-performance Pareto frontier.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2880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top-k gating (Shazeer et al., 2017) as alternative regularization.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3832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3383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Full-rank evaluation against all 159,729 candidates (no sampled negatives).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8862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3886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Re-ablation on v2 where components are no longer masked.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3891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4389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→ BERT content embeddings, MovieLens 25M cross-domain validation.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48920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4892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via FastAPI + Redis-cached embeddings.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attention.   </a:t>
            </a:r>
            <a:pPr algn="ctr" indent="0" marL="0">
              <a:buNone/>
            </a:pPr>
            <a:r>
              <a:rPr lang="en-US" sz="120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Open source: </a:t>
            </a:r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github.com/Medeeet/rec-sys</a:t>
            </a:r>
            <a:pPr algn="ctr" indent="0" marL="0">
              <a:buNone/>
            </a:pPr>
            <a:r>
              <a:rPr lang="en-US" sz="120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MIT License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Hybrid RecSys · Mode Collapse Discovery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9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720840"/>
            <a:ext cx="4114800" cy="137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Hybrid RecSys Defense</dc:title>
  <dc:subject>PptxGenJS Presentation</dc:subject>
  <dc:creator>Zhumakhan Medet</dc:creator>
  <cp:lastModifiedBy>Zhumakhan Medet</cp:lastModifiedBy>
  <cp:revision>1</cp:revision>
  <dcterms:created xsi:type="dcterms:W3CDTF">2026-05-22T06:39:41Z</dcterms:created>
  <dcterms:modified xsi:type="dcterms:W3CDTF">2026-05-22T06:39:41Z</dcterms:modified>
</cp:coreProperties>
</file>